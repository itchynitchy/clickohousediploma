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5A724-51AF-4F31-B558-FA06F413B93C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4D6E8-B21F-400C-8175-97DC4BB3DE1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4679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5A724-51AF-4F31-B558-FA06F413B93C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4D6E8-B21F-400C-8175-97DC4BB3D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860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5A724-51AF-4F31-B558-FA06F413B93C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4D6E8-B21F-400C-8175-97DC4BB3DE1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5027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5A724-51AF-4F31-B558-FA06F413B93C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4D6E8-B21F-400C-8175-97DC4BB3D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999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5A724-51AF-4F31-B558-FA06F413B93C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4D6E8-B21F-400C-8175-97DC4BB3D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686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5A724-51AF-4F31-B558-FA06F413B93C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4D6E8-B21F-400C-8175-97DC4BB3D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289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5A724-51AF-4F31-B558-FA06F413B93C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4D6E8-B21F-400C-8175-97DC4BB3D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785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0F5A724-51AF-4F31-B558-FA06F413B93C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5E4D6E8-B21F-400C-8175-97DC4BB3D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096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5A724-51AF-4F31-B558-FA06F413B93C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4D6E8-B21F-400C-8175-97DC4BB3D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566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5A724-51AF-4F31-B558-FA06F413B93C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4D6E8-B21F-400C-8175-97DC4BB3D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802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5A724-51AF-4F31-B558-FA06F413B93C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4D6E8-B21F-400C-8175-97DC4BB3D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2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0F5A724-51AF-4F31-B558-FA06F413B93C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5E4D6E8-B21F-400C-8175-97DC4BB3DE1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3894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9000/#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9000/#/aggreagated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localhost:9000/#/summary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0980A-B187-4E07-90DF-8545FE3046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6600" dirty="0"/>
              <a:t>Формирование отчета по санитарной очистке населенных пуктов</a:t>
            </a:r>
            <a:endParaRPr lang="en-US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ED442A-10F7-4539-94B0-B887BFC3D3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cap="none" dirty="0"/>
              <a:t>Дипломный проект в рамках обучения по курсу clickhouse для инженеров и архитекторов БД </a:t>
            </a:r>
            <a:r>
              <a:rPr lang="en-US" cap="none" dirty="0"/>
              <a:t>(</a:t>
            </a:r>
            <a:r>
              <a:rPr lang="ru-RU" cap="none" dirty="0"/>
              <a:t>2024-08</a:t>
            </a:r>
            <a:r>
              <a:rPr lang="en-US" cap="none" dirty="0"/>
              <a:t>)</a:t>
            </a:r>
            <a:endParaRPr lang="ru-RU" cap="none" dirty="0"/>
          </a:p>
          <a:p>
            <a:r>
              <a:rPr lang="ru-RU" cap="none" dirty="0"/>
              <a:t>Трояновский Никита Николаевич</a:t>
            </a:r>
            <a:endParaRPr lang="en-US" cap="none" dirty="0"/>
          </a:p>
        </p:txBody>
      </p:sp>
    </p:spTree>
    <p:extLst>
      <p:ext uri="{BB962C8B-B14F-4D97-AF65-F5344CB8AC3E}">
        <p14:creationId xmlns:p14="http://schemas.microsoft.com/office/powerpoint/2010/main" val="958908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CBF83-2915-4885-9936-6AA1F9348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153503"/>
            <a:ext cx="10058400" cy="580296"/>
          </a:xfrm>
        </p:spPr>
        <p:txBody>
          <a:bodyPr>
            <a:normAutofit/>
          </a:bodyPr>
          <a:lstStyle/>
          <a:p>
            <a:r>
              <a:rPr lang="ru-RU" sz="3600" dirty="0"/>
              <a:t>Функционал </a:t>
            </a:r>
            <a:r>
              <a:rPr lang="en-US" sz="3600" dirty="0" err="1"/>
              <a:t>ClickHouse</a:t>
            </a:r>
            <a:r>
              <a:rPr lang="en-US" sz="3600" dirty="0"/>
              <a:t>, </a:t>
            </a:r>
            <a:r>
              <a:rPr lang="ru-RU" sz="3600" dirty="0"/>
              <a:t>использованный в проекте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44D2D-5BB6-4FFA-8C8F-283101949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571008"/>
            <a:ext cx="10058400" cy="329808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2400" dirty="0" err="1"/>
              <a:t>VersionedCollapsingMergeTree</a:t>
            </a:r>
            <a:endParaRPr lang="ru-RU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dirty="0" err="1"/>
              <a:t>AggregatingMergeTree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dirty="0" err="1"/>
              <a:t>SummingMergeTree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Materialized 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Dictionary with </a:t>
            </a:r>
            <a:r>
              <a:rPr lang="en-US" sz="2400" dirty="0" err="1"/>
              <a:t>PostgreSql</a:t>
            </a:r>
            <a:r>
              <a:rPr lang="en-US" sz="2400" dirty="0"/>
              <a:t> source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773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CBF83-2915-4885-9936-6AA1F9348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153503"/>
            <a:ext cx="10058400" cy="580296"/>
          </a:xfrm>
        </p:spPr>
        <p:txBody>
          <a:bodyPr>
            <a:normAutofit/>
          </a:bodyPr>
          <a:lstStyle/>
          <a:p>
            <a:r>
              <a:rPr lang="ru-RU" sz="3600" dirty="0"/>
              <a:t> Цель работы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44D2D-5BB6-4FFA-8C8F-283101949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571008"/>
            <a:ext cx="10058400" cy="3298086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  </a:t>
            </a:r>
            <a:r>
              <a:rPr lang="ru-RU" dirty="0"/>
              <a:t>Исходными данными для работы являются утвержденные формы и методики заполнения отчета о </a:t>
            </a:r>
            <a:r>
              <a:rPr lang="en-US" dirty="0"/>
              <a:t>“C</a:t>
            </a:r>
            <a:r>
              <a:rPr lang="ru-RU" dirty="0"/>
              <a:t>анитарной очистке населенных пунктов</a:t>
            </a:r>
            <a:r>
              <a:rPr lang="en-US" dirty="0"/>
              <a:t>”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установленные постановлением Министерства жилищно-коммунального хозяйства Республики Беларусь</a:t>
            </a:r>
            <a:r>
              <a:rPr lang="en-US" dirty="0"/>
              <a:t> </a:t>
            </a:r>
            <a:r>
              <a:rPr lang="ru-RU" dirty="0"/>
              <a:t>28.11.2022 № 13.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dirty="0"/>
              <a:t>   Целью является автоматизация процесса сбора и обработки данных для формирования отчета.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dirty="0"/>
              <a:t>   В рамках данной работы было реализованно заполнение раздела №</a:t>
            </a:r>
            <a:r>
              <a:rPr lang="en-US" dirty="0"/>
              <a:t>4</a:t>
            </a:r>
            <a:r>
              <a:rPr lang="ru-RU" dirty="0"/>
              <a:t> </a:t>
            </a:r>
            <a:r>
              <a:rPr lang="en-US" dirty="0"/>
              <a:t>“</a:t>
            </a:r>
            <a:r>
              <a:rPr lang="ru-RU" dirty="0"/>
              <a:t>Объекты сортировки и переработки твердых коммунальных отходов</a:t>
            </a:r>
            <a:r>
              <a:rPr lang="en-US" dirty="0"/>
              <a:t>” </a:t>
            </a:r>
            <a:r>
              <a:rPr lang="ru-RU" dirty="0"/>
              <a:t>и приложения №3 </a:t>
            </a:r>
            <a:r>
              <a:rPr lang="en-US" dirty="0"/>
              <a:t>“</a:t>
            </a:r>
            <a:r>
              <a:rPr lang="ru-RU" dirty="0"/>
              <a:t>Об объектах сортировки, использования и захоронения твердых коммунальных отходов</a:t>
            </a:r>
            <a:r>
              <a:rPr lang="en-US" dirty="0"/>
              <a:t>”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94070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CBF83-2915-4885-9936-6AA1F9348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153503"/>
            <a:ext cx="10058400" cy="580296"/>
          </a:xfrm>
        </p:spPr>
        <p:txBody>
          <a:bodyPr>
            <a:normAutofit/>
          </a:bodyPr>
          <a:lstStyle/>
          <a:p>
            <a:r>
              <a:rPr lang="ru-RU" sz="3600" dirty="0"/>
              <a:t> Структура хранения данных</a:t>
            </a:r>
            <a:endParaRPr lang="en-US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A744F5-1364-4994-9433-EAA53184B8AD}"/>
              </a:ext>
            </a:extLst>
          </p:cNvPr>
          <p:cNvSpPr txBox="1"/>
          <p:nvPr/>
        </p:nvSpPr>
        <p:spPr>
          <a:xfrm>
            <a:off x="9536289" y="2571008"/>
            <a:ext cx="1186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Clickhouse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E34FB8-1014-4491-BAE7-D3EEC024C5B2}"/>
              </a:ext>
            </a:extLst>
          </p:cNvPr>
          <p:cNvSpPr txBox="1"/>
          <p:nvPr/>
        </p:nvSpPr>
        <p:spPr>
          <a:xfrm>
            <a:off x="9702924" y="3030601"/>
            <a:ext cx="1389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Fulfilments</a:t>
            </a:r>
          </a:p>
          <a:p>
            <a:pPr algn="ctr"/>
            <a:r>
              <a:rPr lang="en-US" sz="1400" dirty="0"/>
              <a:t>collapsed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A883BDD-255B-44D8-831B-3F620D86003B}"/>
              </a:ext>
            </a:extLst>
          </p:cNvPr>
          <p:cNvSpPr/>
          <p:nvPr/>
        </p:nvSpPr>
        <p:spPr>
          <a:xfrm>
            <a:off x="9705695" y="3000093"/>
            <a:ext cx="1389025" cy="58423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B2658D-F54B-4B3D-AA3D-CB12E54C8AFB}"/>
              </a:ext>
            </a:extLst>
          </p:cNvPr>
          <p:cNvSpPr txBox="1"/>
          <p:nvPr/>
        </p:nvSpPr>
        <p:spPr>
          <a:xfrm>
            <a:off x="9705695" y="3799168"/>
            <a:ext cx="1389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Aggregated fulfilments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B4F11C5-85B9-4804-BE33-D287B5209144}"/>
              </a:ext>
            </a:extLst>
          </p:cNvPr>
          <p:cNvSpPr/>
          <p:nvPr/>
        </p:nvSpPr>
        <p:spPr>
          <a:xfrm>
            <a:off x="9705695" y="3768659"/>
            <a:ext cx="1389025" cy="58423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56B9A89-E6A9-4808-BC95-6E8710F52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571008"/>
            <a:ext cx="6401988" cy="3298086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 </a:t>
            </a:r>
            <a:r>
              <a:rPr lang="ru-RU" dirty="0"/>
              <a:t>В проекте используется 2 СУБД</a:t>
            </a:r>
            <a:r>
              <a:rPr lang="en-US" dirty="0"/>
              <a:t>: </a:t>
            </a:r>
            <a:r>
              <a:rPr lang="en-US" dirty="0" err="1"/>
              <a:t>Clickhouse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PostgreSql</a:t>
            </a: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 </a:t>
            </a:r>
            <a:r>
              <a:rPr lang="en-US" dirty="0" err="1"/>
              <a:t>PostgreSql</a:t>
            </a:r>
            <a:r>
              <a:rPr lang="en-US" dirty="0"/>
              <a:t> </a:t>
            </a:r>
            <a:r>
              <a:rPr lang="ru-RU" dirty="0"/>
              <a:t>используется для хранения исторических и мета данных о подаче информации организациями и динамически обновляемых справочников.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dirty="0"/>
              <a:t>  </a:t>
            </a:r>
            <a:r>
              <a:rPr lang="en-US" dirty="0" err="1"/>
              <a:t>Clickhouse</a:t>
            </a:r>
            <a:r>
              <a:rPr lang="ru-RU" dirty="0"/>
              <a:t> используется для хранения и преобразования актуальных данных в реальном времени.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 </a:t>
            </a:r>
            <a:r>
              <a:rPr lang="ru-RU" dirty="0"/>
              <a:t>Все необходимые преобразования данных оформлены при помощи механизмов </a:t>
            </a:r>
            <a:r>
              <a:rPr lang="en-US" dirty="0" err="1"/>
              <a:t>Clickhouse</a:t>
            </a:r>
            <a:r>
              <a:rPr lang="ru-RU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F2F5D9-641C-4D78-B023-C8DBEC8B58FF}"/>
              </a:ext>
            </a:extLst>
          </p:cNvPr>
          <p:cNvSpPr txBox="1"/>
          <p:nvPr/>
        </p:nvSpPr>
        <p:spPr>
          <a:xfrm>
            <a:off x="7634064" y="2572582"/>
            <a:ext cx="1166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PostgreSql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2F9EF0-12FE-4C7A-9642-99EE37426755}"/>
              </a:ext>
            </a:extLst>
          </p:cNvPr>
          <p:cNvSpPr txBox="1"/>
          <p:nvPr/>
        </p:nvSpPr>
        <p:spPr>
          <a:xfrm>
            <a:off x="7977063" y="3139897"/>
            <a:ext cx="9973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Fulfilments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09CC603-26B8-4263-9355-4016D87FC8CD}"/>
              </a:ext>
            </a:extLst>
          </p:cNvPr>
          <p:cNvSpPr/>
          <p:nvPr/>
        </p:nvSpPr>
        <p:spPr>
          <a:xfrm>
            <a:off x="7803470" y="3001667"/>
            <a:ext cx="1389025" cy="58423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DBEFEA-9356-4E44-A096-306752849EC9}"/>
              </a:ext>
            </a:extLst>
          </p:cNvPr>
          <p:cNvSpPr txBox="1"/>
          <p:nvPr/>
        </p:nvSpPr>
        <p:spPr>
          <a:xfrm>
            <a:off x="7970433" y="3877954"/>
            <a:ext cx="10550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Dictionaries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C1A27F3-9EA7-4243-8BD0-F82D25D48F5F}"/>
              </a:ext>
            </a:extLst>
          </p:cNvPr>
          <p:cNvSpPr/>
          <p:nvPr/>
        </p:nvSpPr>
        <p:spPr>
          <a:xfrm>
            <a:off x="7803470" y="3770233"/>
            <a:ext cx="1389025" cy="58423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5E0A2E-A634-4A0E-853A-448E6BCA4E9C}"/>
              </a:ext>
            </a:extLst>
          </p:cNvPr>
          <p:cNvSpPr txBox="1"/>
          <p:nvPr/>
        </p:nvSpPr>
        <p:spPr>
          <a:xfrm>
            <a:off x="9702922" y="5411304"/>
            <a:ext cx="13890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Dictionaries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620557A-EC0C-4E12-B664-9F2DE408FDFF}"/>
              </a:ext>
            </a:extLst>
          </p:cNvPr>
          <p:cNvSpPr/>
          <p:nvPr/>
        </p:nvSpPr>
        <p:spPr>
          <a:xfrm>
            <a:off x="9702923" y="5273074"/>
            <a:ext cx="1389025" cy="58423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3E72A242-AD91-4469-8045-11131AEF558B}"/>
              </a:ext>
            </a:extLst>
          </p:cNvPr>
          <p:cNvCxnSpPr>
            <a:stCxn id="18" idx="3"/>
            <a:endCxn id="20" idx="1"/>
          </p:cNvCxnSpPr>
          <p:nvPr/>
        </p:nvCxnSpPr>
        <p:spPr>
          <a:xfrm>
            <a:off x="9192495" y="4062352"/>
            <a:ext cx="510428" cy="150284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D7631975-C969-4F5D-9D58-0F6E4691E515}"/>
              </a:ext>
            </a:extLst>
          </p:cNvPr>
          <p:cNvCxnSpPr>
            <a:stCxn id="16" idx="3"/>
            <a:endCxn id="9" idx="1"/>
          </p:cNvCxnSpPr>
          <p:nvPr/>
        </p:nvCxnSpPr>
        <p:spPr>
          <a:xfrm flipV="1">
            <a:off x="9192495" y="3292212"/>
            <a:ext cx="513200" cy="157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C6118B0-D6F4-4399-B8BE-93C93C6FA8EB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10400208" y="3584331"/>
            <a:ext cx="0" cy="184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1E6A399-7A01-447F-86E0-ECEE261C16F7}"/>
              </a:ext>
            </a:extLst>
          </p:cNvPr>
          <p:cNvSpPr txBox="1"/>
          <p:nvPr/>
        </p:nvSpPr>
        <p:spPr>
          <a:xfrm>
            <a:off x="9702923" y="4536121"/>
            <a:ext cx="1389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Aggregated</a:t>
            </a:r>
          </a:p>
          <a:p>
            <a:pPr algn="ctr"/>
            <a:r>
              <a:rPr lang="en-US" sz="1400" dirty="0"/>
              <a:t>summaries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733E33A-05B7-4585-AEB7-6572308982E8}"/>
              </a:ext>
            </a:extLst>
          </p:cNvPr>
          <p:cNvSpPr/>
          <p:nvPr/>
        </p:nvSpPr>
        <p:spPr>
          <a:xfrm>
            <a:off x="9702923" y="4505612"/>
            <a:ext cx="1389025" cy="58423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AA7B6166-67DB-43FE-9306-59B69379E037}"/>
              </a:ext>
            </a:extLst>
          </p:cNvPr>
          <p:cNvCxnSpPr>
            <a:stCxn id="9" idx="3"/>
            <a:endCxn id="31" idx="3"/>
          </p:cNvCxnSpPr>
          <p:nvPr/>
        </p:nvCxnSpPr>
        <p:spPr>
          <a:xfrm flipH="1">
            <a:off x="11091948" y="3292212"/>
            <a:ext cx="2772" cy="1505519"/>
          </a:xfrm>
          <a:prstGeom prst="bentConnector3">
            <a:avLst>
              <a:gd name="adj1" fmla="val -824675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2757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CBF83-2915-4885-9936-6AA1F9348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153503"/>
            <a:ext cx="10058400" cy="580296"/>
          </a:xfrm>
        </p:spPr>
        <p:txBody>
          <a:bodyPr>
            <a:normAutofit/>
          </a:bodyPr>
          <a:lstStyle/>
          <a:p>
            <a:r>
              <a:rPr lang="ru-RU" sz="3600" dirty="0"/>
              <a:t> Реализация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1D837A-4434-4C4A-9337-0D5260DFF2FE}"/>
              </a:ext>
            </a:extLst>
          </p:cNvPr>
          <p:cNvSpPr txBox="1"/>
          <p:nvPr/>
        </p:nvSpPr>
        <p:spPr>
          <a:xfrm>
            <a:off x="1097280" y="1733799"/>
            <a:ext cx="47962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Подача информации от лица организации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9022DD-4655-4F62-8DAF-F51EBDABA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815" y="2133909"/>
            <a:ext cx="8686800" cy="31270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EB7E0E-880D-46C7-92CA-F4F01332A9B5}"/>
              </a:ext>
            </a:extLst>
          </p:cNvPr>
          <p:cNvSpPr txBox="1"/>
          <p:nvPr/>
        </p:nvSpPr>
        <p:spPr>
          <a:xfrm>
            <a:off x="1097280" y="5260945"/>
            <a:ext cx="88353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Реализована в виде таблицы с возможностью выбрать область, район и организацию, от чьего лица идет заполнение. По окончанию </a:t>
            </a:r>
            <a:r>
              <a:rPr lang="ru-RU" sz="1400">
                <a:solidFill>
                  <a:schemeClr val="tx1">
                    <a:lumMod val="75000"/>
                    <a:lumOff val="25000"/>
                  </a:schemeClr>
                </a:solidFill>
              </a:rPr>
              <a:t>работы необходимо </a:t>
            </a: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нажать кнопку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“</a:t>
            </a: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Сохранить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</a:t>
            </a: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hlinkClick r:id="rId3"/>
              </a:rPr>
              <a:t>http://localhost:9000/#/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2115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CBF83-2915-4885-9936-6AA1F9348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153503"/>
            <a:ext cx="10058400" cy="580296"/>
          </a:xfrm>
        </p:spPr>
        <p:txBody>
          <a:bodyPr>
            <a:normAutofit/>
          </a:bodyPr>
          <a:lstStyle/>
          <a:p>
            <a:r>
              <a:rPr lang="ru-RU" sz="3600" dirty="0"/>
              <a:t> Реализация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1D837A-4434-4C4A-9337-0D5260DFF2FE}"/>
              </a:ext>
            </a:extLst>
          </p:cNvPr>
          <p:cNvSpPr txBox="1"/>
          <p:nvPr/>
        </p:nvSpPr>
        <p:spPr>
          <a:xfrm>
            <a:off x="1097280" y="1733799"/>
            <a:ext cx="58126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Просмотр информации в разрезе области и района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9022DD-4655-4F62-8DAF-F51EBDABA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815" y="2133909"/>
            <a:ext cx="8686800" cy="31270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EB7E0E-880D-46C7-92CA-F4F01332A9B5}"/>
              </a:ext>
            </a:extLst>
          </p:cNvPr>
          <p:cNvSpPr txBox="1"/>
          <p:nvPr/>
        </p:nvSpPr>
        <p:spPr>
          <a:xfrm>
            <a:off x="1097280" y="5260945"/>
            <a:ext cx="88353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Отображены данные из предыдущей формы, аггрегированные по регионам.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hlinkClick r:id="rId3"/>
              </a:rPr>
              <a:t>http://localhost:9000/#/aggregated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17DBD2-4D70-4E83-9026-CB8664E068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717" y="2133909"/>
            <a:ext cx="9997963" cy="312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968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CBF83-2915-4885-9936-6AA1F9348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153503"/>
            <a:ext cx="10058400" cy="580296"/>
          </a:xfrm>
        </p:spPr>
        <p:txBody>
          <a:bodyPr>
            <a:normAutofit/>
          </a:bodyPr>
          <a:lstStyle/>
          <a:p>
            <a:r>
              <a:rPr lang="ru-RU" sz="3600" dirty="0"/>
              <a:t> Реализация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1D837A-4434-4C4A-9337-0D5260DFF2FE}"/>
              </a:ext>
            </a:extLst>
          </p:cNvPr>
          <p:cNvSpPr txBox="1"/>
          <p:nvPr/>
        </p:nvSpPr>
        <p:spPr>
          <a:xfrm>
            <a:off x="1097280" y="1733799"/>
            <a:ext cx="47135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Формирование отчета в разрезе области 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EB7E0E-880D-46C7-92CA-F4F01332A9B5}"/>
              </a:ext>
            </a:extLst>
          </p:cNvPr>
          <p:cNvSpPr txBox="1"/>
          <p:nvPr/>
        </p:nvSpPr>
        <p:spPr>
          <a:xfrm>
            <a:off x="1097280" y="5260945"/>
            <a:ext cx="88353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Данные преобразованны в готовый отчет.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hlinkClick r:id="rId2"/>
              </a:rPr>
              <a:t>http://localhost:9000/#/summary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FF9571-BCDE-40F1-9DC9-D5163B152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815" y="2128515"/>
            <a:ext cx="6342517" cy="3155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81723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88</TotalTime>
  <Words>287</Words>
  <Application>Microsoft Office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Retrospect</vt:lpstr>
      <vt:lpstr>Формирование отчета по санитарной очистке населенных пуктов</vt:lpstr>
      <vt:lpstr>Функционал ClickHouse, использованный в проекте</vt:lpstr>
      <vt:lpstr> Цель работы</vt:lpstr>
      <vt:lpstr> Структура хранения данных</vt:lpstr>
      <vt:lpstr> Реализация</vt:lpstr>
      <vt:lpstr> Реализация</vt:lpstr>
      <vt:lpstr> Реализация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Формирование отчета по санитарной очистке населенных пуктов</dc:title>
  <dc:creator>nitchy itchy</dc:creator>
  <cp:lastModifiedBy>nitchy itchy</cp:lastModifiedBy>
  <cp:revision>10</cp:revision>
  <dcterms:created xsi:type="dcterms:W3CDTF">2025-02-22T17:28:02Z</dcterms:created>
  <dcterms:modified xsi:type="dcterms:W3CDTF">2025-02-22T19:50:26Z</dcterms:modified>
</cp:coreProperties>
</file>